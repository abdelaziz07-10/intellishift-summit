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44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7315200" cy="7315200"/>
          </a:xfrm>
          <a:prstGeom prst="ellipse">
            <a:avLst/>
          </a:prstGeom>
          <a:solidFill>
            <a:srgbClr val="1E6FFF">
              <a:alpha val="12000"/>
            </a:srgbClr>
          </a:solidFill>
          <a:ln w="12700">
            <a:solidFill>
              <a:srgbClr val="1E6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315200" y="18288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INTELLISHIFT SUMMIT  ·  DATA ANALYTICS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Supply Chain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3B8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Flat Files → Centralized BI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0" y="3429000"/>
            <a:ext cx="4480560" cy="36576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926080" y="3703320"/>
            <a:ext cx="6309360" cy="1828800"/>
          </a:xfrm>
          <a:prstGeom prst="roundRect">
            <a:avLst>
              <a:gd name="adj" fmla="val 6000"/>
            </a:avLst>
          </a:prstGeom>
          <a:solidFill>
            <a:srgbClr val="0D1F3C"/>
          </a:solidFill>
          <a:ln w="12700">
            <a:solidFill>
              <a:srgbClr val="1E6FFF"/>
            </a:solidFill>
            <a:prstDash val="solid"/>
          </a:ln>
          <a:effectLst>
            <a:outerShdw blurRad="177800" dist="50800" dir="2700000" algn="bl" rotWithShape="0">
              <a:srgbClr val="1E6FFF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92608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4206240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AbdelAziz Tantawi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4572000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 Ashraf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4937760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6035040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1E6FFF">
              <a:alpha val="30000"/>
            </a:srgbClr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6035040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331720" y="60350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0" y="6035040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206240" y="60350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6035040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080760" y="60350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55280" y="6035040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955280" y="60350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29800" y="6035040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829800" y="60350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Statement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0D1F3C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41148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Data Integrity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flat files &amp; Excel spreadsheets create performance bottlenecks. Excessive data duplication in every transaction risks severe integrity failures and update inconsistencies.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0D1F3C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657600" cy="41148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26280" y="15727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Blind Spots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05740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shipping efficiency. Variance between Order Date and Ship Date across shipping modes is untracked, leading to reactive — not proactive — fulfillment management.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0D1F3C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657600" cy="41148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412480" y="15727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 Gap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205740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track Customer Lifetime Value or dynamically segment customers. Prevents targeted, data-driven campaigns and behavioral insight across 793 unique customers.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11247120" cy="1508760"/>
          </a:xfrm>
          <a:prstGeom prst="roundRect">
            <a:avLst>
              <a:gd name="adj" fmla="val 6061"/>
            </a:avLst>
          </a:prstGeom>
          <a:solidFill>
            <a:srgbClr val="1E6FFF">
              <a:alpha val="15000"/>
            </a:srgbClr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080" y="5102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Strategic 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manual flat-file management to a centralized relational database with automated ETL pipelines. This establishes a reliable single source of truth — enabling real-time BI, proactive marketing, and optimized operational efficiency.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PREPARE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 &amp; Schema Design</a:t>
            </a:r>
            <a:endParaRPr lang="en-US" sz="3400" dirty="0"/>
          </a:p>
        </p:txBody>
      </p:sp>
      <p:pic>
        <p:nvPicPr>
          <p:cNvPr id="6" name="Image 0" descr="/home/claude/schem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417320"/>
            <a:ext cx="5486400" cy="5120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63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112244"/>
          </a:solidFill>
          <a:ln w="1270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1536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Sales_ID, Order_ID, Customer_ID, Location_ID, Product_ID, Ship_Mode, Order_Date, Ship_Date, Shipping_Days, Sales_Amount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112244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40080" y="27706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(PK), Customer_Name, Segment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93192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112244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40080" y="4005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4297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(PK), Product_Name, Category, Sub_Category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516636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0080" y="5239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55321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Location_ID (PK), Postal_Code, City, State, Region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6263640"/>
            <a:ext cx="1261872" cy="457200"/>
          </a:xfrm>
          <a:prstGeom prst="roundRect">
            <a:avLst>
              <a:gd name="adj" fmla="val 14000"/>
            </a:avLst>
          </a:prstGeom>
          <a:solidFill>
            <a:srgbClr val="1E6FFF">
              <a:alpha val="20000"/>
            </a:srgbClr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57200" y="62636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
</a:t>
            </a:r>
            <a:r>
              <a:rPr lang="en-US" sz="9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Rows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847088" y="6263640"/>
            <a:ext cx="1261872" cy="457200"/>
          </a:xfrm>
          <a:prstGeom prst="roundRect">
            <a:avLst>
              <a:gd name="adj" fmla="val 14000"/>
            </a:avLst>
          </a:prstGeom>
          <a:solidFill>
            <a:srgbClr val="1E6FFF">
              <a:alpha val="20000"/>
            </a:srgbClr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847088" y="62636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
</a:t>
            </a:r>
            <a:r>
              <a:rPr lang="en-US" sz="9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236976" y="6263640"/>
            <a:ext cx="1261872" cy="457200"/>
          </a:xfrm>
          <a:prstGeom prst="roundRect">
            <a:avLst>
              <a:gd name="adj" fmla="val 14000"/>
            </a:avLst>
          </a:prstGeom>
          <a:solidFill>
            <a:srgbClr val="1E6FFF">
              <a:alpha val="20000"/>
            </a:srgbClr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236976" y="62636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
</a:t>
            </a:r>
            <a:r>
              <a:rPr lang="en-US" sz="9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Type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626864" y="6263640"/>
            <a:ext cx="1261872" cy="457200"/>
          </a:xfrm>
          <a:prstGeom prst="roundRect">
            <a:avLst>
              <a:gd name="adj" fmla="val 14000"/>
            </a:avLst>
          </a:prstGeom>
          <a:solidFill>
            <a:srgbClr val="1E6FFF">
              <a:alpha val="20000"/>
            </a:srgbClr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4626864" y="62636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
</a:t>
            </a:r>
            <a:r>
              <a:rPr lang="en-US" sz="9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Rows Dropped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PROCESS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ETL Pipeline &amp; Feature Engineering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0" cy="1481328"/>
          </a:xfrm>
          <a:prstGeom prst="roundRect">
            <a:avLst>
              <a:gd name="adj" fmla="val 6173"/>
            </a:avLst>
          </a:prstGeom>
          <a:solidFill>
            <a:srgbClr val="0D1F3C"/>
          </a:solidFill>
          <a:ln w="1524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66928" y="1618488"/>
            <a:ext cx="347472" cy="347472"/>
          </a:xfrm>
          <a:prstGeom prst="ellipse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66928" y="1618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Inspect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965960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050E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58368" y="198424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pd.read_csv('Data.csv')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# 9,800 rows × 18 cols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2459736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raw flat file. Identified mixed data types and missing Postal Code values.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5486400" cy="1481328"/>
          </a:xfrm>
          <a:prstGeom prst="roundRect">
            <a:avLst>
              <a:gd name="adj" fmla="val 6173"/>
            </a:avLst>
          </a:prstGeom>
          <a:solidFill>
            <a:srgbClr val="0D1F3C"/>
          </a:solidFill>
          <a:ln w="15240">
            <a:solidFill>
              <a:srgbClr val="7C3AED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66928" y="321868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6928" y="3218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200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566160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050E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58368" y="358444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df.dropna(subset=['Postal Code'], inplace=True)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df['Order Date'] = pd.to_datetime(df['Order Date'], dayfirst=True)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4059936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11 null rows. Converted Order Date &amp; Ship Date from object → datetime.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5486400" cy="1481328"/>
          </a:xfrm>
          <a:prstGeom prst="roundRect">
            <a:avLst>
              <a:gd name="adj" fmla="val 6173"/>
            </a:avLst>
          </a:prstGeom>
          <a:solidFill>
            <a:srgbClr val="0D1F3C"/>
          </a:solidFill>
          <a:ln w="1524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66928" y="4818888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6928" y="4818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800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Shipping Days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166360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050E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58368" y="518464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df['Shipping Days'] = (df['Ship Date'] - df['Order Date']).dt.days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5660136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Shipping Days per order. Identified 214-day outlier (Wyoming) and computed true avg of 4.12 days.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1508760"/>
            <a:ext cx="5486400" cy="1481328"/>
          </a:xfrm>
          <a:prstGeom prst="roundRect">
            <a:avLst>
              <a:gd name="adj" fmla="val 6173"/>
            </a:avLst>
          </a:prstGeom>
          <a:solidFill>
            <a:srgbClr val="0D1F3C"/>
          </a:solidFill>
          <a:ln w="1524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464808" y="161848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464808" y="1618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CLV Segmentation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64808" y="1965960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050E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556248" y="198424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clv_df = df.groupby(['Customer ID'])['Sales'].sum()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VIP &gt;$5K | Regular $1K–$5K | Occasional &lt;$1K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64808" y="2459736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793 customers: 113 VIP, 501 Regular, 179 Occasional based on lifetime spend.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55080" y="3108960"/>
            <a:ext cx="5486400" cy="1481328"/>
          </a:xfrm>
          <a:prstGeom prst="roundRect">
            <a:avLst>
              <a:gd name="adj" fmla="val 6173"/>
            </a:avLst>
          </a:prstGeom>
          <a:solidFill>
            <a:srgbClr val="0D1F3C"/>
          </a:solidFill>
          <a:ln w="1524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464808" y="321868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464808" y="3218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03720" y="3200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64808" y="3566160"/>
            <a:ext cx="5257800" cy="438912"/>
          </a:xfrm>
          <a:prstGeom prst="roundRect">
            <a:avLst>
              <a:gd name="adj" fmla="val 12500"/>
            </a:avLst>
          </a:prstGeom>
          <a:solidFill>
            <a:srgbClr val="050E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556248" y="358444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df_segmented.to_csv('Cleaned_Data.csv', index=False)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64808" y="4059936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enriched dataset with Shipping_Days and Customer_Segment columns ready for Power BI.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ANALYZE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Operations Intelligence</a:t>
            </a:r>
            <a:endParaRPr lang="en-US" sz="3000" dirty="0"/>
          </a:p>
        </p:txBody>
      </p:sp>
      <p:pic>
        <p:nvPicPr>
          <p:cNvPr id="5" name="Image 0" descr="/home/claude/supply_ch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68580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953139"/>
            <a:ext cx="4206240" cy="1325880"/>
          </a:xfrm>
          <a:prstGeom prst="roundRect">
            <a:avLst>
              <a:gd name="adj" fmla="val 6897"/>
            </a:avLst>
          </a:prstGeom>
          <a:solidFill>
            <a:srgbClr val="0D1F3C"/>
          </a:solidFill>
          <a:ln w="1016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680960" y="1044579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214 Days Max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1428627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 outlier — requires immediate operational audit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98080" y="2416179"/>
            <a:ext cx="4206240" cy="1325880"/>
          </a:xfrm>
          <a:prstGeom prst="roundRect">
            <a:avLst>
              <a:gd name="adj" fmla="val 6897"/>
            </a:avLst>
          </a:prstGeom>
          <a:solidFill>
            <a:srgbClr val="0D1F3C"/>
          </a:solidFill>
          <a:ln w="1016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680960" y="2507619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4.12 Days True Avg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0" y="2891667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operational avg after excluding statistical outliers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3879219"/>
            <a:ext cx="4206240" cy="1325880"/>
          </a:xfrm>
          <a:prstGeom prst="roundRect">
            <a:avLst>
              <a:gd name="adj" fmla="val 6897"/>
            </a:avLst>
          </a:prstGeom>
          <a:solidFill>
            <a:srgbClr val="0D1F3C"/>
          </a:solidFill>
          <a:ln w="1016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680960" y="3970659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Same Day: 0.04 Days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0" y="4354707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fulfillment pipeline is working perfectly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553212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1E6FFF">
              <a:alpha val="18000"/>
            </a:srgbClr>
          </a:solidFill>
          <a:ln w="1016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" y="5532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~3K  ·  Delayed Orders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91840" y="553212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1E6FFF">
              <a:alpha val="18000"/>
            </a:srgbClr>
          </a:solidFill>
          <a:ln w="1016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3291840" y="5532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9.18  ·  Avg Days Overall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26480" y="553212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1E6FFF">
              <a:alpha val="18000"/>
            </a:srgbClr>
          </a:solidFill>
          <a:ln w="1016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126480" y="5532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 ·  Wyoming Avg Days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61120" y="553212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1E6FFF">
              <a:alpha val="18000"/>
            </a:srgbClr>
          </a:solidFill>
          <a:ln w="1016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961120" y="5532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 ·  Fastest Mode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ANALYZE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Intelligence &amp; Segmentation</a:t>
            </a:r>
            <a:endParaRPr lang="en-US" sz="3000" dirty="0"/>
          </a:p>
        </p:txBody>
      </p:sp>
      <p:pic>
        <p:nvPicPr>
          <p:cNvPr id="5" name="Image 0" descr="/home/claude/customer_inte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68580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444752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0D1F3C"/>
          </a:solidFill>
          <a:ln w="1524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680960" y="15361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6696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63.18%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19019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 customers   ·   $1K – $5K CLV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2770632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0D1F3C"/>
          </a:solidFill>
          <a:ln w="15240">
            <a:solidFill>
              <a:srgbClr val="7C3AED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680960" y="2862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966960" y="2862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14.25%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80960" y="32278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customers   ·   CLV &gt; $5K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4096512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0D1F3C"/>
          </a:solidFill>
          <a:ln w="1524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680960" y="41879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966960" y="41879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22.57%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680960" y="45537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customers   ·   CLV &lt; $1K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98080" y="548640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680960" y="58064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Whale: Sean Miller  —  $25,043.05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ANALYZE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Executive Performance</a:t>
            </a:r>
            <a:endParaRPr lang="en-US" sz="3000" dirty="0"/>
          </a:p>
        </p:txBody>
      </p:sp>
      <p:pic>
        <p:nvPicPr>
          <p:cNvPr id="5" name="Image 0" descr="/home/claude/executi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68580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444752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016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680960" y="15179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Revenue Growth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241280" y="14904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B8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+31.4%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80960" y="19019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spike after 2016 contraction (-5.3%)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2724912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016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680960" y="27980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West + East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41280" y="27706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B8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80960" y="31821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regional dominance of total sales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4005072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016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680960" y="40782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Revenue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241280" y="40507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B8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$2.25M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80960" y="44622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4,916 unique orders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98080" y="5285232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0D1F3C"/>
          </a:solidFill>
          <a:ln w="1016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680960" y="53583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Balanced Mix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241280" y="53309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B8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Cats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80960" y="57424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Furniture / Office — low concentration risk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98080" y="580644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050E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7635240" y="5852160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DAX: Avg_Order_Value = DIVIDE(SUM(Sales), DISTINCTCOUNT(Order ID))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SHARE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Design &amp; Delivery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0D1F3C"/>
          </a:solidFill>
          <a:ln w="1524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486400" cy="384048"/>
          </a:xfrm>
          <a:prstGeom prst="rect">
            <a:avLst/>
          </a:prstGeom>
          <a:solidFill>
            <a:srgbClr val="1E6FFF">
              <a:alpha val="28000"/>
            </a:srgbClr>
          </a:solidFill>
          <a:ln w="12700">
            <a:solidFill>
              <a:srgbClr val="1E6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15636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Dark Mode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84248"/>
            <a:ext cx="512064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Navy/Black backgrounds with Electric Blue &amp; Neon Purple glowing shadows for a modern tech / enterprise aesthetic aligned with IntelliShift brand.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0D1F3C"/>
          </a:solidFill>
          <a:ln w="15240">
            <a:solidFill>
              <a:srgbClr val="7C3AED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355080" y="1508760"/>
            <a:ext cx="5486400" cy="384048"/>
          </a:xfrm>
          <a:prstGeom prst="rect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537960" y="15636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Targeted Pages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84248"/>
            <a:ext cx="512064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Supply Chain Ops  ·  Page 2: Customer Intelligence  ·  Page 3: Executive Performance — each built for a different audience.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0D1F3C"/>
          </a:solidFill>
          <a:ln w="1524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5486400" cy="384048"/>
          </a:xfrm>
          <a:prstGeom prst="rect">
            <a:avLst/>
          </a:prstGeom>
          <a:solidFill>
            <a:srgbClr val="06B6D4">
              <a:alpha val="28000"/>
            </a:srgbClr>
          </a:solidFill>
          <a:ln w="12700">
            <a:solidFill>
              <a:srgbClr val="06B6D4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080" y="37581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178808"/>
            <a:ext cx="512064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Treemaps, Ribbon/Sankey-style charts, Geographic Bubble Map, Donut chart, interactive Slicers with Tile format, and hierarchical Drill-Down on Line Chart (Year → Month).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370332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0D1F3C"/>
          </a:solidFill>
          <a:ln w="1524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355080" y="3703320"/>
            <a:ext cx="5486400" cy="384048"/>
          </a:xfrm>
          <a:prstGeom prst="rect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537960" y="37581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4178808"/>
            <a:ext cx="512064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DAX formulas for Total_Customers, Average_CLV, Total_Orders, and Avg_Order_Value — enabling dynamic, context-aware KPI cards.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608076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1E6FFF">
              <a:alpha val="15000"/>
            </a:srgbClr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dashboards feature cross-page slicers by Region and Customer Segment for fully interactive executive storytelling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0D1F3C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66928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600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[Supply Chain]  Audit Wyoming &amp; High-Delay States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002536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immediate operational review for Wyoming (153-day avg) and the 5 states exceeding 30-day averages. Identify root causes: lost shipments, carrier failures, or data anomalies.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75234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≤7 day avg nationwide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464808" y="160020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64808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22008" y="1600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[Supply Chain]  Optimize Standard Class Fulfillment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64808" y="2002536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(highest volume, 12+ day avg) is the single biggest drag on customer satisfaction. Renegotiate carrier SLAs or redistribute to regional warehouses.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64808" y="275234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 day Standard avg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0D1F3C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66928" y="329184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66928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291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[Marketing]  Activate VIP Retention Program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3694176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dedicated account managers and exclusive offers for 113 VIP customers ($883K revenue). Technology bundles (Machines + Phones) are their proven purchase drivers.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44439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0% VIP churn 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320040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0D1F3C"/>
          </a:solidFill>
          <a:ln w="1270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464808" y="3291840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464808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22008" y="3291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[Marketing]  Re-engage Occasional Buyers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64808" y="3694176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Occasional customers represent untapped revenue. Target with bundle incentives and cross-sell campaigns anchored on Office Supplies → Technology upgrade paths.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64808" y="44439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Convert 20% to Regular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66928" y="498348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66928" y="4983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49834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[Infrastructure]  Deploy Full ETL Automation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5385816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Productionize the Python pipeline as a scheduled ETL job feeding the SQL star schema. Eliminate all manual Excel transfers and establish a single source of truth.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1356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Q3 deployment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489204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0D1F3C"/>
          </a:solidFill>
          <a:ln w="1270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464808" y="4983480"/>
            <a:ext cx="347472" cy="347472"/>
          </a:xfrm>
          <a:prstGeom prst="ellipse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464808" y="4983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22008" y="49834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[Strategy]  Expand West &amp; East Investment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64808" y="5385816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($710K) and East ($660K) drive 60%+ of revenue. Prioritize marketing spend and inventory positioning in these regions to sustain the 2018 growth trajectory.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64808" y="61356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Grow share +15% YoY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9144000" cy="9144000"/>
          </a:xfrm>
          <a:prstGeom prst="ellipse">
            <a:avLst/>
          </a:prstGeom>
          <a:solidFill>
            <a:srgbClr val="1E6FFF">
              <a:alpha val="10000"/>
            </a:srgbClr>
          </a:solidFill>
          <a:ln w="12700">
            <a:solidFill>
              <a:srgbClr val="1E6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315200" y="1828800"/>
            <a:ext cx="7315200" cy="7315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INTELLISHIFT SUMMIT  ·  DATA ANALYTICS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3B8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Flat Files to Full Intelligence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0D1F3C"/>
          </a:solidFill>
          <a:ln w="19050">
            <a:solidFill>
              <a:srgbClr val="1E6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3273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12464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3 core business pain 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320040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0D1F3C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331720" y="3273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3712464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star schema ERD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320040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0D1F3C"/>
          </a:solidFill>
          <a:ln w="19050">
            <a:solidFill>
              <a:srgbClr val="06B6D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206240" y="3273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712464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+ Feature Engineering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320040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0D1F3C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080760" y="3273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3712464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Power BI dashboard suite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320040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0D1F3C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955280" y="3273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0" y="3712464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dark-mode UX delivery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29800" y="320040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0D1F3C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829800" y="32735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21240" y="3712464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strategic recommendations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5029200"/>
            <a:ext cx="6675120" cy="1463040"/>
          </a:xfrm>
          <a:prstGeom prst="roundRect">
            <a:avLst>
              <a:gd name="adj" fmla="val 7500"/>
            </a:avLst>
          </a:prstGeom>
          <a:solidFill>
            <a:srgbClr val="0D1F3C"/>
          </a:solidFill>
          <a:ln w="12700">
            <a:solidFill>
              <a:srgbClr val="1E6FFF"/>
            </a:solidFill>
            <a:prstDash val="solid"/>
          </a:ln>
          <a:effectLst>
            <a:outerShdw blurRad="177800" dist="50800" dir="2700000" algn="bl" rotWithShape="0">
              <a:srgbClr val="1E6FFF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743200" y="51206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AbdelAziz Tantawi  ·  Ahmed Ashraf  ·  Mohamed Elsaid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743200" y="56875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Supply Chain BI  ·  IntelliShift Summit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1184</Words>
  <Application>Microsoft Office PowerPoint</Application>
  <PresentationFormat>Widescreen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abdelaziz tantawi</cp:lastModifiedBy>
  <cp:revision>3</cp:revision>
  <dcterms:created xsi:type="dcterms:W3CDTF">2026-06-28T23:07:31Z</dcterms:created>
  <dcterms:modified xsi:type="dcterms:W3CDTF">2026-07-02T02:53:48Z</dcterms:modified>
</cp:coreProperties>
</file>